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514" r:id="rId3"/>
    <p:sldId id="515" r:id="rId4"/>
    <p:sldId id="516" r:id="rId5"/>
    <p:sldId id="517" r:id="rId6"/>
    <p:sldId id="512" r:id="rId7"/>
    <p:sldId id="513" r:id="rId8"/>
    <p:sldId id="518" r:id="rId9"/>
    <p:sldId id="522" r:id="rId10"/>
    <p:sldId id="524" r:id="rId11"/>
    <p:sldId id="521" r:id="rId12"/>
    <p:sldId id="523" r:id="rId13"/>
    <p:sldId id="520" r:id="rId14"/>
    <p:sldId id="519" r:id="rId15"/>
    <p:sldId id="269" r:id="rId16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93" autoAdjust="0"/>
    <p:restoredTop sz="94681"/>
  </p:normalViewPr>
  <p:slideViewPr>
    <p:cSldViewPr>
      <p:cViewPr varScale="1">
        <p:scale>
          <a:sx n="110" d="100"/>
          <a:sy n="110" d="100"/>
        </p:scale>
        <p:origin x="596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ACE8C-0EE5-5AE5-AE9B-14880806E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62300A-38F6-0C77-671F-D4F3A19F1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1F04E-EEF4-9FCA-6709-A6B30B43F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FB6BD-2B13-1DF9-8DDC-D28A6A90E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799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/>
        </p:nvGraphicFramePr>
        <p:xfrm>
          <a:off x="1696134" y="3086002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2401830002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Naman Katewa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2401840003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Sneha Yadav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2401840006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Akshaya Tanwar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2401840008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Nikita Saharan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2401720014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Kartikeya Drall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4727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36441" y="1212054"/>
            <a:ext cx="85840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University Fleet Optimization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Ms. Rishika Mehta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2274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C01F9148-249C-53EB-C9D8-998CE4283F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5576" y="1386529"/>
            <a:ext cx="7725437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Problem: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Managing university transportation across a massive catchment area(Sohna, Gurugram, Faridabad, Palwal, Noida, Bhiwadi) is manually intensive.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Current fixed routes lead to inefficiencies, high fuel costs, and uneven student loads.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Solution: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"Zero-Operational Cost" fleet management system built entirely on open-source technologies.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Replaces expensive commercial APIs (Google Maps) with self-hosted routing engines.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Goal: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automate route planning using advanced Multi-Depot Capacitated Vehicle Routing Problem with Time Windows (MD-CVRPTW). Our goal is to minimize total fleet mileage while strictly enforcing bus capacities and campus arrival deadlines.</a:t>
            </a:r>
          </a:p>
        </p:txBody>
      </p:sp>
    </p:spTree>
    <p:extLst>
      <p:ext uri="{BB962C8B-B14F-4D97-AF65-F5344CB8AC3E}">
        <p14:creationId xmlns:p14="http://schemas.microsoft.com/office/powerpoint/2010/main" val="4171987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42A318E-8EC1-F7ED-9708-F25D8CC0C0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372" y="1180868"/>
            <a:ext cx="8219256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Zero-Cost Architecture: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achieve professional routing capabilities using self-hosted OSRM and OpenStreetMap data, eliminating recurring API fees.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Regional Optimization: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effectively model the specific road networks of Haryana and Uttar Pradesh (Extended NCR) for accurate travel time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Algorithmic Efficiency: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implement the Vehicle Routing Problem (VRP) using Google OR-Tools to mathematically minimize total fleet mileage.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Constraint Enforcement: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strictly enforce service rules: Maximum 2-hour ride time and Bus Capacity limits (e.g., 50 seats).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Split-Delivery Logic: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To dynamically split high-demand stops across multiple buses to achieve 100% student coverage without exceeding individual vehicle capacities.</a:t>
            </a:r>
          </a:p>
        </p:txBody>
      </p:sp>
    </p:spTree>
    <p:extLst>
      <p:ext uri="{BB962C8B-B14F-4D97-AF65-F5344CB8AC3E}">
        <p14:creationId xmlns:p14="http://schemas.microsoft.com/office/powerpoint/2010/main" val="1047781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6A4BB3A-848F-94E0-C61E-3C63AFDB9F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624" y="1779991"/>
            <a:ext cx="8291264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No Recurring Costs: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Runs entirely on local university infrastructure or free-tier cloud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Physics Aware Routing: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Custom OSRM Lua profile calibrated for “Bus” physics-enforcing strict 40-second U-turn penalties and capping speeds to realistic urban traffic limits.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Strategic Comparison Mode: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Allows admins to toggle between "Strict" plans (visit every stop) and "Suggested" plans (merge stops for efficiency).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High-Performance Dashboard: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Next.js-based admin panel utilizing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PMTiles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and Leaflet to visualize thousands of route coordinates seamlessly without browser lag.</a:t>
            </a:r>
          </a:p>
        </p:txBody>
      </p:sp>
    </p:spTree>
    <p:extLst>
      <p:ext uri="{BB962C8B-B14F-4D97-AF65-F5344CB8AC3E}">
        <p14:creationId xmlns:p14="http://schemas.microsoft.com/office/powerpoint/2010/main" val="3992159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B5C432-E63F-6355-19A5-32B65372F4D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0497A04-3DEE-EEDE-1D14-C74CA4471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624" y="1718436"/>
            <a:ext cx="8291264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System Architecture (Completed):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Successfully decoupled Next.js frontend and FastAPI backend, communicating securely via REST.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Routing Engine (Live):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Open Source Routing Machine (OSRM) fully self-hosted via docker with custom Extended NCR map data.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Algorithmic Optimization (Validated):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Successfully modeled the MD-CVRPTW, processing datasets of 3000+ students and 100+ buses in minutes.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DevOps &amp; CI/CD (Deployed):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Automated deployment pipeline established using </a:t>
            </a:r>
            <a:r>
              <a:rPr lang="en-US" alt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Github</a:t>
            </a: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Actions, Docker, and Nginx reverse proxies.</a:t>
            </a:r>
          </a:p>
        </p:txBody>
      </p: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B334A1-6FD9-8F48-CC4C-A2E2B536E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624" y="1349105"/>
            <a:ext cx="8291264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Phase 1 – Data &amp; Physics: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Engineered a custom Lua profile for OSRM to ensure mathematically generated routes are actually drivable by heavy 12-meter vehicles.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Phase 2 – Algorithmic Tuning: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Conducted exhaustive benchmarking of 30+ Or-Tools configurations. Identified that basic “Savings” heuristics got stuck in local minima, leading to massive inefficiencies.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Phase 3 – The Breakthrough: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Discovered the optimal mathematical configuration: pairing the “</a:t>
            </a:r>
            <a:r>
              <a:rPr lang="en-US" alt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Christofides</a:t>
            </a: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” graph theory heuristic with a “Simulated Annealing” metaheuristic, reducing required fleet size significantly.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Phase 4 – Production Security: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Overcame strict browser CORS policies and Next.js caching errors by engineering a reverse-proxy tunnel using </a:t>
            </a:r>
            <a:r>
              <a:rPr lang="en-US" alt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DuckDNS</a:t>
            </a: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and Let’s Encrypt SSL certificates.</a:t>
            </a:r>
          </a:p>
        </p:txBody>
      </p:sp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72C8601-DE05-D6CC-B9AB-1E9D7F9DD2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372" y="1207194"/>
            <a:ext cx="8219256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Phase 1: Digitization: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Converting Stops addresses into precise GPS coordinates.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Phase 2: Matrix Generation: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Using self-hosted OSRM to calculate a massive "Cost Matrix" (Time/Distance) </a:t>
            </a: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connecting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all stops, depots and the campus.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Phase 3: 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Applying the “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Christofides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" heuristic for initial route generation, followed by “Simulated Annealing” local search to mathematically pack buses and minimizing distance.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Phase 4: Visualization: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Rendering the final paths on the admin dashboard using edge-stored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PMTiles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Technologies Used: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Docker: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For hosting the routing engine.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PostgreSQL: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For structured data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Next.js:</a:t>
            </a: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For frontend</a:t>
            </a:r>
            <a:endParaRPr lang="en-US" altLang="en-US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FastAPI:</a:t>
            </a: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For backend</a:t>
            </a:r>
            <a:endParaRPr lang="en-US" altLang="en-US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312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Flow diagram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99938D-2C1A-D620-C76B-CF08F0769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2060848"/>
            <a:ext cx="8307397" cy="336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413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5E7EB-ED71-7BBC-DF56-E99F1ED0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3626B959-665F-F5D3-A7C6-0161BCA75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Technical 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8022C3-A95A-36B0-DCA1-037BCB37C7F7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8DB0697-2A7A-7345-38B9-CCA6B597FB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9D6448-97F2-5678-479A-E306B7218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671" y="1191477"/>
            <a:ext cx="7308304" cy="475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723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D316CD-08DF-8021-EC91-E0F246A93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52" y="1239149"/>
            <a:ext cx="8244408" cy="482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14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22328010-B45A-B3D1-0442-596DA76696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372" y="1607893"/>
            <a:ext cx="821925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Data 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Map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OpenStreetMap (OSM) extracts for North India (via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Geofabrik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Stop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Geotagged coordinates for student pickup points across Palwal, Faridabad, Noida,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Software &amp; Frameworks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Frontend: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Next.js (React), Leaflet.js,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TanStack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Query,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PMTiles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Backend: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Python, FastAPI, Pandas,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SQLAlchemy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Google OR-Tools, OSRM (Open Source Routing Machine) with custom Lua profiles.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DevOps &amp; Infrastructure:</a:t>
            </a:r>
            <a:r>
              <a:rPr lang="en-US" alt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Docker, </a:t>
            </a:r>
            <a:r>
              <a:rPr lang="en-US" alt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Github</a:t>
            </a: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Actions, Nginx Reverse Proxy, PostgreSQL.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022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25844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F51E82-67B3-C722-B9D5-3C292AB52C1A}"/>
              </a:ext>
            </a:extLst>
          </p:cNvPr>
          <p:cNvSpPr txBox="1"/>
          <p:nvPr/>
        </p:nvSpPr>
        <p:spPr>
          <a:xfrm>
            <a:off x="251521" y="1838725"/>
            <a:ext cx="417646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Primary Use cases: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Semester Planning:</a:t>
            </a:r>
          </a:p>
          <a:p>
            <a:pPr algn="just"/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Generating the master route schedule at the start of every academic session.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Budget Optimization:</a:t>
            </a:r>
          </a:p>
          <a:p>
            <a:pPr algn="just"/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Estimating and reducing fuel budgets by optimizing route kilometers.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Feasibility Testing:</a:t>
            </a:r>
          </a:p>
          <a:p>
            <a:pPr algn="just"/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Checking if new routes to distant towns (e.g., Rewari) are viable within time limits.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B47245-5C2C-523B-2677-E059C6B519A1}"/>
              </a:ext>
            </a:extLst>
          </p:cNvPr>
          <p:cNvSpPr txBox="1"/>
          <p:nvPr/>
        </p:nvSpPr>
        <p:spPr>
          <a:xfrm>
            <a:off x="4716017" y="1838725"/>
            <a:ext cx="4176464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Scope:</a:t>
            </a:r>
          </a:p>
          <a:p>
            <a:pPr algn="just"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Geographic:</a:t>
            </a:r>
          </a:p>
          <a:p>
            <a:pPr algn="just"/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Covers the entire K.R. Mangalam University catchment area (Sohna, Gurugram, Faridabad, Noida, Palwal, Bhiwadi).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Operational:</a:t>
            </a:r>
          </a:p>
          <a:p>
            <a:pPr algn="just"/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Focuses on static planning and fleet scheduling (Does not include real-time GPS tracking hardware).</a:t>
            </a:r>
          </a:p>
        </p:txBody>
      </p:sp>
    </p:spTree>
    <p:extLst>
      <p:ext uri="{BB962C8B-B14F-4D97-AF65-F5344CB8AC3E}">
        <p14:creationId xmlns:p14="http://schemas.microsoft.com/office/powerpoint/2010/main" val="50636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957663B-6BC8-4F3D-A957-AC5BC6E72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372" y="1961835"/>
            <a:ext cx="8219256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Operational Savings: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100% elimination of software licensing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Estimated 10-15% reduction in fuel consumption due to optimized paths while maintaining 100% coverage.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Efficiency: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Reduction in manual planning time from weeks to minutes.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Balanced passenger loads via dynamic split-delivery logic, preventing overcrowding on popular routes.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Sustainability: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Reduction in carbon footprint by minimizing deadhead (empty) kilometers and eliminating unnecessary U-turns and backtracking.</a:t>
            </a:r>
          </a:p>
        </p:txBody>
      </p:sp>
    </p:spTree>
    <p:extLst>
      <p:ext uri="{BB962C8B-B14F-4D97-AF65-F5344CB8AC3E}">
        <p14:creationId xmlns:p14="http://schemas.microsoft.com/office/powerpoint/2010/main" val="2395047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6367</TotalTime>
  <Words>1093</Words>
  <Application>Microsoft Office PowerPoint</Application>
  <PresentationFormat>On-screen Show (4:3)</PresentationFormat>
  <Paragraphs>169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Naman Katewa</cp:lastModifiedBy>
  <cp:revision>314</cp:revision>
  <cp:lastPrinted>2022-09-05T08:43:44Z</cp:lastPrinted>
  <dcterms:created xsi:type="dcterms:W3CDTF">2020-01-16T09:05:56Z</dcterms:created>
  <dcterms:modified xsi:type="dcterms:W3CDTF">2026-04-07T16:22:32Z</dcterms:modified>
</cp:coreProperties>
</file>